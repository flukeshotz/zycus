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011680"/>
            <a:ext cx="5486400" cy="5486400"/>
          </a:xfrm>
          <a:prstGeom prst="ellipse">
            <a:avLst/>
          </a:prstGeom>
          <a:solidFill>
            <a:srgbClr val="13203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1A153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66928"/>
            <a:ext cx="3291840" cy="310896"/>
          </a:xfrm>
          <a:prstGeom prst="roundRect">
            <a:avLst>
              <a:gd name="adj" fmla="val 23529"/>
            </a:avLst>
          </a:prstGeom>
          <a:solidFill>
            <a:srgbClr val="16213A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5669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PM TRACK · TAKE-HOME · TRACK 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0515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Contract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Authoring Agent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7889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drafts a Mutual NDA from raw business inputs — auto-fills what it's confident about, and routes anything that shifts legal risk to a human before it ever reaches the document.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" y="3840480"/>
            <a:ext cx="329184" cy="329184"/>
          </a:xfrm>
          <a:prstGeom prst="ellipse">
            <a:avLst/>
          </a:prstGeom>
          <a:solidFill>
            <a:srgbClr val="1E293B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38130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carve-out  </a:t>
            </a:r>
            <a:pPr indent="0" marL="0">
              <a:buNone/>
            </a:pPr>
            <a:r>
              <a:rPr lang="en-US" sz="12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flagged, not silently inserted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" y="4297680"/>
            <a:ext cx="329184" cy="329184"/>
          </a:xfrm>
          <a:prstGeom prst="ellipse">
            <a:avLst/>
          </a:prstGeom>
          <a:solidFill>
            <a:srgbClr val="1E293B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4270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 on an NDA  </a:t>
            </a:r>
            <a:pPr indent="0" marL="0">
              <a:buNone/>
            </a:pPr>
            <a:r>
              <a:rPr lang="en-US" sz="12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recognized N/A, omitted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" y="4754880"/>
            <a:ext cx="329184" cy="329184"/>
          </a:xfrm>
          <a:prstGeom prst="ellipse">
            <a:avLst/>
          </a:prstGeom>
          <a:solidFill>
            <a:srgbClr val="1E293B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4754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47274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today’s date”  </a:t>
            </a:r>
            <a:pPr indent="0" marL="0">
              <a:buNone/>
            </a:pPr>
            <a:r>
              <a:rPr lang="en-US" sz="12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resolved, never left literal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21040" y="1051560"/>
            <a:ext cx="3246120" cy="1170432"/>
          </a:xfrm>
          <a:prstGeom prst="roundRect">
            <a:avLst>
              <a:gd name="adj" fmla="val 7031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1247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14/14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18013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PASS LIVE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21040" y="2404872"/>
            <a:ext cx="3246120" cy="1170432"/>
          </a:xfrm>
          <a:prstGeom prst="roundRect">
            <a:avLst>
              <a:gd name="adj" fmla="val 7031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247802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1546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ISSUES CAUGHT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21040" y="3758184"/>
            <a:ext cx="3246120" cy="1170432"/>
          </a:xfrm>
          <a:prstGeom prst="roundRect">
            <a:avLst>
              <a:gd name="adj" fmla="val 7031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383133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~6.8s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50799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LIVE LATENCY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6053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zycus-blond.vercel.app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6053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github.com/Flukeshotz/Zycus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CONTRACT AUTHORING AGENT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1548872" y="6528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decides what's correct. The LLM only decides what needs judgment.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20240" cy="502920"/>
          </a:xfrm>
          <a:prstGeom prst="roundRect">
            <a:avLst>
              <a:gd name="adj" fmla="val 12727"/>
            </a:avLst>
          </a:prstGeom>
          <a:solidFill>
            <a:srgbClr val="16213A"/>
          </a:solidFill>
          <a:ln w="13970">
            <a:solidFill>
              <a:srgbClr val="2A33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49047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50592" y="1664208"/>
            <a:ext cx="457200" cy="0"/>
          </a:xfrm>
          <a:prstGeom prst="line">
            <a:avLst/>
          </a:prstGeom>
          <a:noFill/>
          <a:ln w="19050">
            <a:solidFill>
              <a:srgbClr val="2A334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44368" y="141732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16213A"/>
          </a:solidFill>
          <a:ln w="13970">
            <a:solidFill>
              <a:srgbClr val="2A33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54096" y="14904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on Vercel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054096" y="1746504"/>
            <a:ext cx="25237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/api/run · maxDuration 60s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15968" y="1965960"/>
            <a:ext cx="0" cy="320040"/>
          </a:xfrm>
          <a:prstGeom prst="line">
            <a:avLst/>
          </a:prstGeom>
          <a:noFill/>
          <a:ln w="19050">
            <a:solidFill>
              <a:srgbClr val="2A334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228600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10151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LAYER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2743200"/>
            <a:ext cx="4937760" cy="457200"/>
          </a:xfrm>
          <a:prstGeom prst="roundRect">
            <a:avLst>
              <a:gd name="adj" fmla="val 14000"/>
            </a:avLst>
          </a:prstGeom>
          <a:solidFill>
            <a:srgbClr val="141B29"/>
          </a:solidFill>
          <a:ln w="13970">
            <a:solidFill>
              <a:srgbClr val="2A33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16352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Store · Rulebook · Clause Library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072384"/>
            <a:ext cx="4718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YAML, loaded once, never edited by the model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" y="3291840"/>
            <a:ext cx="4937760" cy="457200"/>
          </a:xfrm>
          <a:prstGeom prst="roundRect">
            <a:avLst>
              <a:gd name="adj" fmla="val 14000"/>
            </a:avLst>
          </a:prstGeom>
          <a:solidFill>
            <a:srgbClr val="141B29"/>
          </a:solidFill>
          <a:ln w="13970">
            <a:solidFill>
              <a:srgbClr val="2A33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364992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Mapper → Rule Engine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621024"/>
            <a:ext cx="4718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term/survival ranges · governing-law allowlist · party checks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" y="3840480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1B1408"/>
          </a:solidFill>
          <a:ln w="13970">
            <a:solidFill>
              <a:srgbClr val="EAB30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913632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Router — Gates G1–G11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169664"/>
            <a:ext cx="4718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 wins — the whole flag-vs-act decision lives here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232" y="4434840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160E0E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507992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Gate — Q1–Q8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764024"/>
            <a:ext cx="4718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mechanical checks scan every render before download unlocks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53328" y="2286000"/>
            <a:ext cx="5632704" cy="2926080"/>
          </a:xfrm>
          <a:prstGeom prst="roundRect">
            <a:avLst>
              <a:gd name="adj" fmla="val 2500"/>
            </a:avLst>
          </a:prstGeom>
          <a:solidFill>
            <a:srgbClr val="10151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6208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LLM LAYER (GROQ)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274320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141B29"/>
          </a:solidFill>
          <a:ln w="13970">
            <a:solidFill>
              <a:srgbClr val="2A334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73368" y="2816352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 · gpt-oss-20b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73368" y="3072384"/>
            <a:ext cx="4992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— interprets every field, flags ambiguity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3273552"/>
            <a:ext cx="5212080" cy="914400"/>
          </a:xfrm>
          <a:prstGeom prst="roundRect">
            <a:avLst>
              <a:gd name="adj" fmla="val 7000"/>
            </a:avLst>
          </a:prstGeom>
          <a:solidFill>
            <a:srgbClr val="141B29"/>
          </a:solidFill>
          <a:ln w="13970">
            <a:solidFill>
              <a:srgbClr val="2A334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73368" y="3346704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Analyst · gpt-oss-120b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373368" y="3602736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A: tool loop (get_rules, search_clause_library,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get_template_section, max 6 calls) → evidence pack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B: strict-JSON decision from evidence only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4261104"/>
            <a:ext cx="5212080" cy="420624"/>
          </a:xfrm>
          <a:prstGeom prst="roundRect">
            <a:avLst>
              <a:gd name="adj" fmla="val 15217"/>
            </a:avLst>
          </a:prstGeom>
          <a:solidFill>
            <a:srgbClr val="141B29"/>
          </a:solidFill>
          <a:ln w="13970">
            <a:solidFill>
              <a:srgbClr val="2A334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73368" y="4334256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· qwen3.8-27b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373368" y="4590288"/>
            <a:ext cx="499262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required safeguards are present before trusting text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63640" y="4754880"/>
            <a:ext cx="5212080" cy="347472"/>
          </a:xfrm>
          <a:prstGeom prst="roundRect">
            <a:avLst>
              <a:gd name="adj" fmla="val 18421"/>
            </a:avLst>
          </a:prstGeom>
          <a:solidFill>
            <a:srgbClr val="141827"/>
          </a:solidFill>
          <a:ln w="13970">
            <a:solidFill>
              <a:srgbClr val="2A334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73368" y="4828032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· gemini-3.5-flash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373368" y="5084064"/>
            <a:ext cx="4992624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auto-enabled — one retry on a Groq 429 / 5xx / timeout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15968" y="5230368"/>
            <a:ext cx="0" cy="274320"/>
          </a:xfrm>
          <a:prstGeom prst="line">
            <a:avLst/>
          </a:prstGeom>
          <a:noFill/>
          <a:ln w="19050">
            <a:solidFill>
              <a:srgbClr val="2A334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869680" y="5230368"/>
            <a:ext cx="0" cy="274320"/>
          </a:xfrm>
          <a:prstGeom prst="line">
            <a:avLst/>
          </a:prstGeom>
          <a:noFill/>
          <a:ln w="19050">
            <a:solidFill>
              <a:srgbClr val="2A334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651760" y="5532120"/>
            <a:ext cx="6858000" cy="457200"/>
          </a:xfrm>
          <a:prstGeom prst="roundRect">
            <a:avLst>
              <a:gd name="adj" fmla="val 14000"/>
            </a:avLst>
          </a:prstGeom>
          <a:solidFill>
            <a:srgbClr val="16213A"/>
          </a:solidFill>
          <a:ln w="13970">
            <a:solidFill>
              <a:srgbClr val="2A334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761488" y="5605272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 &amp; Signer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2761488" y="5861304"/>
            <a:ext cx="6638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RenderedDoc → .docx (python-docx, comments) + HTML preview — HMAC-SHA256 signed envelope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08076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/api/render — reviewer actions → verify signature → re-render → re-QA — ZERO new LLM calls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CONTRACT AUTHORING AGENT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1548872" y="6528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Walkthrough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working screens — the S01 sample run, live on Groq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8056" y="1362456"/>
            <a:ext cx="3721608" cy="2013950"/>
          </a:xfrm>
          <a:prstGeom prst="roundRect">
            <a:avLst>
              <a:gd name="adj" fmla="val 4086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pic>
        <p:nvPicPr>
          <p:cNvPr id="5" name="Image 0" descr="s01_review_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3611880" cy="1904222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346784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Review — HITL decisions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77874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gate · reason · 4 one-click actions per flagged clause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61104" y="1362456"/>
            <a:ext cx="3721608" cy="2013950"/>
          </a:xfrm>
          <a:prstGeom prst="roundRect">
            <a:avLst>
              <a:gd name="adj" fmla="val 4086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pic>
        <p:nvPicPr>
          <p:cNvPr id="9" name="Image 1" descr="s01_draft_p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417320"/>
            <a:ext cx="3611880" cy="1904222"/>
          </a:xfrm>
          <a:prstGeom prst="ellipse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15968" y="346784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Draft — rendered preview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4315968" y="377874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RenderedDoc that produces the .docx — preview can't drift from the file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074152" y="1362456"/>
            <a:ext cx="3721608" cy="2013950"/>
          </a:xfrm>
          <a:prstGeom prst="roundRect">
            <a:avLst>
              <a:gd name="adj" fmla="val 4086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pic>
        <p:nvPicPr>
          <p:cNvPr id="13" name="Image 2" descr="s01_agent_tr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1417320"/>
            <a:ext cx="3611880" cy="1904222"/>
          </a:xfrm>
          <a:prstGeom prst="ellipse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29016" y="346784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Agent Trace — full audit log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8129016" y="377874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step, tool call, model, latency, tokens, and rate-limit headroom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CONTRACT AUTHORING AGENT</a:t>
            </a:r>
            <a:endParaRPr lang="en-US" sz="850" dirty="0"/>
          </a:p>
        </p:txBody>
      </p:sp>
      <p:sp>
        <p:nvSpPr>
          <p:cNvPr id="17" name="Text 12"/>
          <p:cNvSpPr txBox="1"/>
          <p:nvPr/>
        </p:nvSpPr>
        <p:spPr>
          <a:xfrm>
            <a:off x="11548872" y="6528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Broke — and How I Fixed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from docs/DEBUG_LOG.md — not staged, not hypothetical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1572768"/>
          </a:xfrm>
          <a:prstGeom prst="roundRect">
            <a:avLst>
              <a:gd name="adj" fmla="val 4070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18488"/>
            <a:ext cx="384048" cy="384048"/>
          </a:xfrm>
          <a:prstGeom prst="ellipse">
            <a:avLst/>
          </a:prstGeom>
          <a:solidFill>
            <a:srgbClr val="1E293B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5636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Gate false-failed on every BLOCKED document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947672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(missing governing law) failed the docx round-trip check Q8, even though the rendered document itself was completely correct.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2423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write_docx() rendered [banner, title, body]; RenderedDoc.full_text built [title, banner, body] — the two disagreed only when a banner existed. Reordered full_text to match the writer exactly.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118104"/>
            <a:ext cx="11201400" cy="1572768"/>
          </a:xfrm>
          <a:prstGeom prst="roundRect">
            <a:avLst>
              <a:gd name="adj" fmla="val 4070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319272"/>
            <a:ext cx="384048" cy="384048"/>
          </a:xfrm>
          <a:prstGeom prst="ellipse">
            <a:avLst/>
          </a:prstGeom>
          <a:solidFill>
            <a:srgbClr val="1E293B"/>
          </a:solidFill>
          <a:ln w="15875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32644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leaked its own prompt instruction into the document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648456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Normalizer was told “don't guess an actual date, the caller resolves it” for a derived effective_date — and complied, correctly, by returning null. Nothing was actually acting as “the caller.”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1239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unconditional deterministic canonicalization step after every normalize() call — live or offline — so “today” is always resolved the same way, regardless of what the model returns.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818888"/>
            <a:ext cx="11201400" cy="1572768"/>
          </a:xfrm>
          <a:prstGeom prst="roundRect">
            <a:avLst>
              <a:gd name="adj" fmla="val 4070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5020056"/>
            <a:ext cx="384048" cy="384048"/>
          </a:xfrm>
          <a:prstGeom prst="ellipse">
            <a:avLst/>
          </a:prstGeom>
          <a:solidFill>
            <a:srgbClr val="1E293B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9651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free-tier rate limits during rapid sequential evals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534924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Back-to-back live scenario runs depleted the 8,000-tokens/min bucket; remaining headroom dipped to 32–42 tokens on complex multi-step scenarios.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58247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backoff in evals/run.py, reading x-ratelimit-remaining-tokens between runs — 6/6 must-pass scenarios then passed ×2 repeats with zero flakiness and zero 429s.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CONTRACT AUTHORING AGENT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528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vs. 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412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 autonomous agent draws the line on a legal document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0E1A11"/>
          </a:solidFill>
          <a:ln w="15875">
            <a:solidFill>
              <a:srgbClr val="1F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420624" cy="420624"/>
          </a:xfrm>
          <a:prstGeom prst="ellipse">
            <a:avLst/>
          </a:prstGeom>
          <a:solidFill>
            <a:srgbClr val="1E293B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autonomously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240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standard durations (“2 years” → 24 months)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072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072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“today” into an unambiguous, jurisdiction-correct date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7413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741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Omitting commercial fields that don't apply to an NDA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9410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9410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 request to an approved clause-library entry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13716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1B1408"/>
          </a:solidFill>
          <a:ln w="15875">
            <a:solidFill>
              <a:srgbClr val="6B4E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627632"/>
            <a:ext cx="420624" cy="420624"/>
          </a:xfrm>
          <a:prstGeom prst="ellipse">
            <a:avLst/>
          </a:prstGeom>
          <a:solidFill>
            <a:srgbClr val="1E293B"/>
          </a:solidFill>
          <a:ln w="15875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flags for a human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21945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93992" y="219456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Risk-shifting clauses (G5) — any carve-out or liability change, however standard it looks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2633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793992" y="2633472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terms (G1) — red ⟦MISSING⟧ marker, document BLOCKED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307238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793992" y="3072384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Non-approved governing law (G6) — e.g. Singapore isn't on the list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351129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793992" y="3511296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Unrecognized or identical parties (G6) — neither is a known Zycus entity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19672" y="395020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793992" y="3950208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outage (G7) — safe degraded draft, never a guess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828032"/>
            <a:ext cx="11201400" cy="1298448"/>
          </a:xfrm>
          <a:prstGeom prst="roundRect">
            <a:avLst>
              <a:gd name="adj" fmla="val 5634"/>
            </a:avLst>
          </a:prstGeom>
          <a:solidFill>
            <a:srgbClr val="141B29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95604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“Gate G5 always wins for a special clause — confidence can never override it.”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358384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unnecessary review costs about a minute. An unreviewed affiliate carve-out can hand confidential information to entities that never signed the agreement. That asymmetry is the whole decision.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CONTRACT AUTHORING AGENT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528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Evals, Limitations &amp; Roadmap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41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scenarios, written before the code, graded on exact status — not “looks right”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4475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baseline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S01, S06, S11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70632" y="137160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0632" y="144475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843784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flaws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843784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S01, S05, S08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38344" y="137160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38344" y="144475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111496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&amp; ambiguous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111496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S02, S04, S09, S10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06056" y="137160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06056" y="144475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79208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violations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379208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S03, S12, S13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573768" y="137160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141B29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73768" y="144475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1/1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/ fallback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27432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14/14 (100%)  ·  Must-pass: 6/6 × 2 repeats, zero flakiness  ·  ~6.8s avg. live latency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36576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free-tier: 8K tokens/min — sequential evals need pacing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251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4251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Mutual NDAs only (Delaware-style standard)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4846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4846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Rulebook positions are illustrative, not certified legal counsel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36576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10528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redline diff between request and library fallback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4251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10528" y="4251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CRM/CLM intake (Salesforce, HubSpot) → Zycus iContract export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263640" y="4846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10528" y="4846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templates: MSAs, SOWs, DPA addenda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02920" y="5715000"/>
            <a:ext cx="11201400" cy="621792"/>
          </a:xfrm>
          <a:prstGeom prst="roundRect">
            <a:avLst>
              <a:gd name="adj" fmla="val 10294"/>
            </a:avLst>
          </a:prstGeom>
          <a:solidFill>
            <a:srgbClr val="1621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2920" y="5715000"/>
            <a:ext cx="11201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zycus-blond.vercel.app   ·   Repo: github.com/Flukeshotz/Zycus   ·   Deck: /deck.html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CONTRACT AUTHORING AGENT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1548872" y="6528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2026-09-13T17:29:48Z</dcterms:created>
  <dcterms:modified xsi:type="dcterms:W3CDTF">2026-09-13T17:29:48Z</dcterms:modified>
</cp:coreProperties>
</file>